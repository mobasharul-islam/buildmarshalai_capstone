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4592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00" cy="3044952"/>
          </a:xfrm>
          <a:prstGeom prst="rect">
            <a:avLst/>
          </a:prstGeom>
          <a:solidFill>
            <a:srgbClr val="11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8FD3B0"/>
                </a:solidFill>
                <a:latin typeface="IBM Plex Mono"/>
              </a:rPr>
              <a:t>BANGLADESH UNIVERSITY OF ENGINEERING &amp; TECHNOLOGY  ·  DEPT. OF CSE  ·  LEVEL-4 CAPSTONE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1887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IBM Plex Sans"/>
              </a:rPr>
              <a:t>BuildMarshal</a:t>
            </a:r>
            <a:r>
              <a:rPr sz="7600" b="1">
                <a:solidFill>
                  <a:srgbClr val="2E9E68"/>
                </a:solidFill>
                <a:latin typeface="IBM Plex Sans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0">
                <a:solidFill>
                  <a:srgbClr val="D2E7DC"/>
                </a:solidFill>
                <a:latin typeface="IBM Plex Sans"/>
              </a:rPr>
              <a:t>Construction document intelligence that </a:t>
            </a:r>
            <a:r>
              <a:rPr sz="2300" b="1">
                <a:solidFill>
                  <a:srgbClr val="FFFFFF"/>
                </a:solidFill>
                <a:latin typeface="IBM Plex Sans"/>
              </a:rPr>
              <a:t>refuses to guess</a:t>
            </a:r>
            <a:r>
              <a:rPr sz="2300" b="0">
                <a:solidFill>
                  <a:srgbClr val="D2E7DC"/>
                </a:solidFill>
                <a:latin typeface="IBM Plex Sans"/>
              </a:rPr>
              <a:t>. Every answer points at the page it came from; every field it cannot read, it asks for.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87168"/>
            <a:ext cx="15179040" cy="10972"/>
          </a:xfrm>
          <a:prstGeom prst="rect">
            <a:avLst/>
          </a:prstGeom>
          <a:solidFill>
            <a:srgbClr val="3A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517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BM Plex Sans"/>
              </a:rPr>
              <a:t>Md. Mobasharul Islam</a:t>
            </a:r>
            <a:r>
              <a:rPr sz="1350" b="0">
                <a:solidFill>
                  <a:srgbClr val="B5D4C4"/>
                </a:solidFill>
                <a:latin typeface="IBM Plex Sans"/>
              </a:rPr>
              <a:t> (2105076)  ·  </a:t>
            </a:r>
            <a:r>
              <a:rPr sz="1350" b="1">
                <a:solidFill>
                  <a:srgbClr val="FFFFFF"/>
                </a:solidFill>
                <a:latin typeface="IBM Plex Sans"/>
              </a:rPr>
              <a:t>[Team member 2]</a:t>
            </a:r>
            <a:r>
              <a:rPr sz="1350" b="0">
                <a:solidFill>
                  <a:srgbClr val="B5D4C4"/>
                </a:solidFill>
                <a:latin typeface="IBM Plex Sans"/>
              </a:rPr>
              <a:t>  ·  </a:t>
            </a:r>
            <a:r>
              <a:rPr sz="1350" b="1">
                <a:solidFill>
                  <a:srgbClr val="FFFFFF"/>
                </a:solidFill>
                <a:latin typeface="IBM Plex Sans"/>
              </a:rPr>
              <a:t>[Team member 3]</a:t>
            </a:r>
            <a:r>
              <a:rPr sz="1350" b="0">
                <a:solidFill>
                  <a:srgbClr val="B5D4C4"/>
                </a:solidFill>
                <a:latin typeface="IBM Plex Sans"/>
              </a:rPr>
              <a:t>    |    Supervised by </a:t>
            </a:r>
            <a:r>
              <a:rPr sz="1350" b="1">
                <a:solidFill>
                  <a:srgbClr val="FFFFFF"/>
                </a:solidFill>
                <a:latin typeface="IBM Plex Sans"/>
              </a:rPr>
              <a:t>[Supervisor name]</a:t>
            </a:r>
            <a:r>
              <a:rPr sz="1350" b="0">
                <a:solidFill>
                  <a:srgbClr val="B5D4C4"/>
                </a:solidFill>
                <a:latin typeface="IBM Plex Sans"/>
              </a:rPr>
              <a:t>, Department of Computer Science &amp;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794992" y="329184"/>
            <a:ext cx="1024128" cy="1024128"/>
          </a:xfrm>
          <a:prstGeom prst="roundRect">
            <a:avLst>
              <a:gd name="adj" fmla="val 22000"/>
            </a:avLst>
          </a:prstGeom>
          <a:solidFill>
            <a:srgbClr val="2E9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4938369" y="554492"/>
            <a:ext cx="747614" cy="604235"/>
          </a:xfrm>
          <a:custGeom>
            <a:avLst/>
            <a:gdLst/>
            <a:ahLst/>
            <a:cxnLst/>
            <a:rect l="l" t="t" r="r" b="b"/>
            <a:pathLst>
              <a:path w="747614" h="604235">
                <a:moveTo>
                  <a:pt x="0" y="307238"/>
                </a:moveTo>
                <a:lnTo>
                  <a:pt x="133137" y="174101"/>
                </a:lnTo>
                <a:lnTo>
                  <a:pt x="296998" y="337962"/>
                </a:lnTo>
                <a:lnTo>
                  <a:pt x="614477" y="0"/>
                </a:lnTo>
                <a:lnTo>
                  <a:pt x="747614" y="133136"/>
                </a:lnTo>
                <a:lnTo>
                  <a:pt x="296998" y="604235"/>
                </a:lnTo>
                <a:close/>
              </a:path>
            </a:pathLst>
          </a:custGeom>
          <a:solidFill>
            <a:srgbClr val="0B34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0" y="148132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8FD3B0"/>
                </a:solidFill>
                <a:latin typeface="IBM Plex Mono"/>
              </a:rPr>
              <a:t>ColPali v1.2 · MaxSim
ChromaDB · FastAPI
Gemini via CLIProxyAPI
1 × RTX 3070 · on-premises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3044952"/>
            <a:ext cx="16459200" cy="1691640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727448"/>
            <a:ext cx="16459200" cy="10972"/>
          </a:xfrm>
          <a:prstGeom prst="rect">
            <a:avLst/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9052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100" b="0">
                <a:solidFill>
                  <a:srgbClr val="0D1A15"/>
                </a:solidFill>
                <a:latin typeface="IBM Plex Sans"/>
              </a:rPr>
              <a:t>A construction contract is a legal document. Slabs are specified at 3500 psi and piles at 4000 psi — an assistant that confuses the two has not made a typo, it has </a:t>
            </a:r>
            <a:r>
              <a:rPr sz="2100" b="1">
                <a:solidFill>
                  <a:srgbClr val="A8410C"/>
                </a:solidFill>
                <a:latin typeface="IBM Plex Sans"/>
              </a:rPr>
              <a:t>created a liability</a:t>
            </a:r>
            <a:r>
              <a:rPr sz="2100" b="0">
                <a:solidFill>
                  <a:srgbClr val="0D1A15"/>
                </a:solidFill>
                <a:latin typeface="IBM Plex Sans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40" y="3291840"/>
            <a:ext cx="41148" cy="1188720"/>
          </a:xfrm>
          <a:prstGeom prst="rect">
            <a:avLst/>
          </a:prstGeom>
          <a:solidFill>
            <a:srgbClr val="A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9296" y="3291840"/>
            <a:ext cx="508406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566860"/>
                </a:solidFill>
                <a:latin typeface="IBM Plex Sans"/>
              </a:rPr>
              <a:t>Site engineers still answer such questions by hand-searching hundreds of pages of specifications and drawings. A general-purpose assistant answers </a:t>
            </a:r>
            <a:r>
              <a:rPr sz="1450" b="1">
                <a:solidFill>
                  <a:srgbClr val="0D1A15"/>
                </a:solidFill>
                <a:latin typeface="IBM Plex Sans"/>
              </a:rPr>
              <a:t>fluently and wrongly</a:t>
            </a:r>
            <a:r>
              <a:rPr sz="1450" b="0">
                <a:solidFill>
                  <a:srgbClr val="566860"/>
                </a:solidFill>
                <a:latin typeface="IBM Plex Sans"/>
              </a:rPr>
              <a:t>, with nothing to check it against — and will invent a project, a date or a person to finish filling a 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01184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2E9E68"/>
                </a:solidFill>
                <a:latin typeface="IBM Plex Mono"/>
              </a:rPr>
              <a:t>GUARANTEE 01 —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38928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>
                <a:solidFill>
                  <a:srgbClr val="0D1A15"/>
                </a:solidFill>
                <a:latin typeface="IBM Plex Sans"/>
              </a:rPr>
              <a:t>Every answer points at the page it came 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600" b="0">
                <a:solidFill>
                  <a:srgbClr val="223830"/>
                </a:solidFill>
                <a:latin typeface="IBM Plex Sans"/>
              </a:rPr>
              <a:t>Retrieval runs over </a:t>
            </a:r>
            <a:r>
              <a:rPr sz="1600" b="1">
                <a:solidFill>
                  <a:srgbClr val="0D1A15"/>
                </a:solidFill>
                <a:latin typeface="IBM Plex Sans"/>
              </a:rPr>
              <a:t>rendered page images</a:t>
            </a:r>
            <a:r>
              <a:rPr sz="1600" b="0">
                <a:solidFill>
                  <a:srgbClr val="223830"/>
                </a:solidFill>
                <a:latin typeface="IBM Plex Sans"/>
              </a:rPr>
              <a:t>, not extracted text. A ColPali v1.2 vision–language encoder embeds each page as a grid of patch vectors and MaxSim scores the question against them — so a table, a stamped revision or a floor plan is searchable on the same footing as a paragraph.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6725412"/>
            <a:ext cx="118872" cy="118872"/>
          </a:xfrm>
          <a:prstGeom prst="ellipse">
            <a:avLst/>
          </a:prstGeom>
          <a:noFill/>
          <a:ln w="27940">
            <a:solidFill>
              <a:srgbClr val="2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6751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0D1A15"/>
                </a:solidFill>
                <a:latin typeface="IBM Plex Sans"/>
              </a:rPr>
              <a:t>The citation is part of the answer. </a:t>
            </a:r>
            <a:r>
              <a:rPr sz="1450" b="0">
                <a:solidFill>
                  <a:srgbClr val="1E322A"/>
                </a:solidFill>
                <a:latin typeface="IBM Plex Sans"/>
              </a:rPr>
              <a:t>Document, page and MaxSim score travel with every reply; one click opens that exact page image. Scanned drawings and dense tender tables — where a text-chunk pipeline returns nothing usable — are retrieved the same way.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7383779"/>
            <a:ext cx="118872" cy="118872"/>
          </a:xfrm>
          <a:prstGeom prst="ellipse">
            <a:avLst/>
          </a:prstGeom>
          <a:noFill/>
          <a:ln w="27940">
            <a:solidFill>
              <a:srgbClr val="2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733348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0D1A15"/>
                </a:solidFill>
                <a:latin typeface="IBM Plex Sans"/>
              </a:rPr>
              <a:t>Nothing found means nothing said. </a:t>
            </a:r>
            <a:r>
              <a:rPr sz="1450" b="0">
                <a:solidFill>
                  <a:srgbClr val="1E322A"/>
                </a:solidFill>
                <a:latin typeface="IBM Plex Sans"/>
              </a:rPr>
              <a:t>With no passage above threshold it says so and names what the workspace holds, rather than composing something plausible.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7973568"/>
            <a:ext cx="11430000" cy="566928"/>
          </a:xfrm>
          <a:prstGeom prst="roundRect">
            <a:avLst>
              <a:gd name="adj" fmla="val 6000"/>
            </a:avLst>
          </a:prstGeom>
          <a:solidFill>
            <a:srgbClr val="11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8092440"/>
            <a:ext cx="110276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The answer alongside is checkable in one click: </a:t>
            </a:r>
            <a:r>
              <a:rPr sz="1500" b="1">
                <a:solidFill>
                  <a:srgbClr val="2E9E68"/>
                </a:solidFill>
                <a:latin typeface="IBM Plex Sans"/>
              </a:rPr>
              <a:t>06_Tender-Specification.pdf, page 2, 94% MaxSim</a:t>
            </a:r>
            <a:r>
              <a:rPr sz="1500" b="0">
                <a:solidFill>
                  <a:srgbClr val="FFFFFF"/>
                </a:solidFill>
                <a:latin typeface="IBM Plex Sans"/>
              </a:rPr>
              <a:t> — the page that actually carries the concrete schedule.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435840" y="4846320"/>
            <a:ext cx="3383280" cy="3913632"/>
          </a:xfrm>
          <a:prstGeom prst="roundRect">
            <a:avLst>
              <a:gd name="adj" fmla="val 3000"/>
            </a:avLst>
          </a:prstGeom>
          <a:solidFill>
            <a:srgbClr val="F2F6F3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6424" y="4946904"/>
            <a:ext cx="3182112" cy="309647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536424" y="8321040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66860"/>
                </a:solidFill>
                <a:latin typeface="IBM Plex Mono"/>
              </a:rPr>
              <a:t>A live answer and its </a:t>
            </a:r>
            <a:r>
              <a:rPr sz="1100" b="1">
                <a:solidFill>
                  <a:srgbClr val="1B6B45"/>
                </a:solidFill>
                <a:latin typeface="IBM Plex Mono"/>
              </a:rPr>
              <a:t>evidence card</a:t>
            </a:r>
            <a:r>
              <a:rPr sz="1100" b="0">
                <a:solidFill>
                  <a:srgbClr val="566860"/>
                </a:solidFill>
                <a:latin typeface="IBM Plex Mono"/>
              </a:rPr>
              <a:t> — grades differ by location.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8942832"/>
            <a:ext cx="15179040" cy="10972"/>
          </a:xfrm>
          <a:prstGeom prst="rect">
            <a:avLst/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9125712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2E9E68"/>
                </a:solidFill>
                <a:latin typeface="IBM Plex Mono"/>
              </a:rPr>
              <a:t>GUARANTEE 02 — WRITING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9363456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>
                <a:solidFill>
                  <a:srgbClr val="0D1A15"/>
                </a:solidFill>
                <a:latin typeface="IBM Plex Sans"/>
              </a:rPr>
              <a:t>Every field it cannot read, it asks for.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9985248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600" b="0">
                <a:solidFill>
                  <a:srgbClr val="223830"/>
                </a:solidFill>
                <a:latin typeface="IBM Plex Sans"/>
              </a:rPr>
              <a:t>Chat creates </a:t>
            </a:r>
            <a:r>
              <a:rPr sz="1600" b="1">
                <a:solidFill>
                  <a:srgbClr val="0D1A15"/>
                </a:solidFill>
                <a:latin typeface="IBM Plex Sans"/>
              </a:rPr>
              <a:t>eleven kinds of record</a:t>
            </a:r>
            <a:r>
              <a:rPr sz="1600" b="0">
                <a:solidFill>
                  <a:srgbClr val="223830"/>
                </a:solidFill>
                <a:latin typeface="IBM Plex Sans"/>
              </a:rPr>
              <a:t> — projects, tasks, users, roles, costs, procurement, catalogues. What each one mandates is derived from the application's own constructors and validators, so the assistant and the API can never disagree about what is required.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10931652"/>
            <a:ext cx="118872" cy="118872"/>
          </a:xfrm>
          <a:prstGeom prst="ellipse">
            <a:avLst/>
          </a:prstGeom>
          <a:noFill/>
          <a:ln w="27940">
            <a:solidFill>
              <a:srgbClr val="2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108813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0D1A15"/>
                </a:solidFill>
                <a:latin typeface="IBM Plex Sans"/>
              </a:rPr>
              <a:t>A reference must exist. </a:t>
            </a:r>
            <a:r>
              <a:rPr sz="1450" b="0">
                <a:solidFill>
                  <a:srgbClr val="1E322A"/>
                </a:solidFill>
                <a:latin typeface="IBM Plex Sans"/>
              </a:rPr>
              <a:t>A project type, trade or assignee is accepted only when it names a record already in the workspace; an unmatched value is dropped and asked about, never corrected to the nearest guess.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11590019"/>
            <a:ext cx="118872" cy="118872"/>
          </a:xfrm>
          <a:prstGeom prst="ellipse">
            <a:avLst/>
          </a:prstGeom>
          <a:noFill/>
          <a:ln w="27940">
            <a:solidFill>
              <a:srgbClr val="2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115397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0D1A15"/>
                </a:solidFill>
                <a:latin typeface="IBM Plex Sans"/>
              </a:rPr>
              <a:t>It collects across turns. </a:t>
            </a:r>
            <a:r>
              <a:rPr sz="1450" b="0">
                <a:solidFill>
                  <a:srgbClr val="1E322A"/>
                </a:solidFill>
                <a:latin typeface="IBM Plex Sans"/>
              </a:rPr>
              <a:t>Values given one message at a time accumulate; it asks only for what is outstanding and never re-asks.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12047219"/>
            <a:ext cx="118872" cy="118872"/>
          </a:xfrm>
          <a:prstGeom prst="ellipse">
            <a:avLst/>
          </a:prstGeom>
          <a:noFill/>
          <a:ln w="27940">
            <a:solidFill>
              <a:srgbClr val="2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1199692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0D1A15"/>
                </a:solidFill>
                <a:latin typeface="IBM Plex Sans"/>
              </a:rPr>
              <a:t>The form opens once, at the end. </a:t>
            </a:r>
            <a:r>
              <a:rPr sz="1450" b="0">
                <a:solidFill>
                  <a:srgbClr val="1E322A"/>
                </a:solidFill>
                <a:latin typeface="IBM Plex Sans"/>
              </a:rPr>
              <a:t>Complete and prefilled for review — then the record is written by the POST route that already owns the permission check and the validator.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12673584"/>
            <a:ext cx="11430000" cy="566928"/>
          </a:xfrm>
          <a:prstGeom prst="roundRect">
            <a:avLst>
              <a:gd name="adj" fmla="val 6000"/>
            </a:avLst>
          </a:prstGeom>
          <a:solidFill>
            <a:srgbClr val="11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12792456"/>
            <a:ext cx="110276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Interpretation creates nothing. </a:t>
            </a:r>
            <a:r>
              <a:rPr sz="1500" b="1">
                <a:solidFill>
                  <a:srgbClr val="2E9E68"/>
                </a:solidFill>
                <a:latin typeface="IBM Plex Sans"/>
              </a:rPr>
              <a:t>529 tests / 591 cases</a:t>
            </a:r>
            <a:r>
              <a:rPr sz="1500" b="0">
                <a:solidFill>
                  <a:srgbClr val="FFFFFF"/>
                </a:solidFill>
                <a:latin typeface="IBM Plex Sans"/>
              </a:rPr>
              <a:t> hold the line — including that an unreadable date is asked for again rather than filled in.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435840" y="9070848"/>
            <a:ext cx="3383280" cy="278892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2-col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6424" y="9171432"/>
            <a:ext cx="3182112" cy="234238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536424" y="11457432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66860"/>
                </a:solidFill>
                <a:latin typeface="IBM Plex Mono"/>
              </a:rPr>
              <a:t>Mid-collection: each reply names </a:t>
            </a:r>
            <a:r>
              <a:rPr sz="1100" b="1">
                <a:solidFill>
                  <a:srgbClr val="1B6B45"/>
                </a:solidFill>
                <a:latin typeface="IBM Plex Mono"/>
              </a:rPr>
              <a:t>only what is still missing</a:t>
            </a:r>
            <a:r>
              <a:rPr sz="1100" b="0">
                <a:solidFill>
                  <a:srgbClr val="566860"/>
                </a:solidFill>
                <a:latin typeface="IBM Plex Mono"/>
              </a:rPr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435840" y="11978640"/>
            <a:ext cx="3383280" cy="1691640"/>
          </a:xfrm>
          <a:prstGeom prst="roundRect">
            <a:avLst>
              <a:gd name="adj" fmla="val 5000"/>
            </a:avLst>
          </a:prstGeom>
          <a:solidFill>
            <a:srgbClr val="F2F6F3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3-di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6424" y="12079224"/>
            <a:ext cx="3182112" cy="99778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536424" y="13203936"/>
            <a:ext cx="3182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66860"/>
                </a:solidFill>
                <a:latin typeface="IBM Plex Mono"/>
              </a:rPr>
              <a:t>Then the dialog opens </a:t>
            </a:r>
            <a:r>
              <a:rPr sz="1100" b="1">
                <a:solidFill>
                  <a:srgbClr val="1B6B45"/>
                </a:solidFill>
                <a:latin typeface="IBM Plex Mono"/>
              </a:rPr>
              <a:t>once, prefilled</a:t>
            </a:r>
            <a:r>
              <a:rPr sz="1100" b="0">
                <a:solidFill>
                  <a:srgbClr val="566860"/>
                </a:solidFill>
                <a:latin typeface="IBM Plex Mono"/>
              </a:rPr>
              <a:t>, for review.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13844016"/>
            <a:ext cx="16459200" cy="3630168"/>
          </a:xfrm>
          <a:prstGeom prst="rect">
            <a:avLst/>
          </a:prstGeom>
          <a:solidFill>
            <a:srgbClr val="F2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13844016"/>
            <a:ext cx="16459200" cy="10972"/>
          </a:xfrm>
          <a:prstGeom prst="rect">
            <a:avLst/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17465040"/>
            <a:ext cx="16459200" cy="10972"/>
          </a:xfrm>
          <a:prstGeom prst="rect">
            <a:avLst/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4045184"/>
            <a:ext cx="1517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1B6B45"/>
                </a:solidFill>
                <a:latin typeface="IBM Plex Mono"/>
              </a:rPr>
              <a:t>HOW IT WORKS — TWO PATHS, ONE GUARANTEE EACH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04104" y="14150340"/>
            <a:ext cx="10415016" cy="20320"/>
          </a:xfrm>
          <a:prstGeom prst="rect">
            <a:avLst/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1437436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1B6B45"/>
                </a:solidFill>
                <a:latin typeface="IBM Plex Mono"/>
              </a:rPr>
              <a:t>READING · A QUESTION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1463040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1474012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Documents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" y="1497787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PDF · XLSX · drawings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2843784" y="14913864"/>
            <a:ext cx="219456" cy="118872"/>
          </a:xfrm>
          <a:prstGeom prst="rightArrow">
            <a:avLst/>
          </a:prstGeom>
          <a:solidFill>
            <a:srgbClr val="1B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118104" y="1463040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64408" y="1474012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Page images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64408" y="1497787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rendered, not parsed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5321807" y="14913864"/>
            <a:ext cx="219456" cy="118872"/>
          </a:xfrm>
          <a:prstGeom prst="rightArrow">
            <a:avLst/>
          </a:prstGeom>
          <a:solidFill>
            <a:srgbClr val="1B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596128" y="1463040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E7EEE9"/>
          </a:solidFill>
          <a:ln w="12700">
            <a:solidFill>
              <a:srgbClr val="1B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42432" y="1474012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ColPali v1.2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42432" y="1497787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patch embeddings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7799832" y="14913864"/>
            <a:ext cx="219456" cy="118872"/>
          </a:xfrm>
          <a:prstGeom prst="rightArrow">
            <a:avLst/>
          </a:prstGeom>
          <a:solidFill>
            <a:srgbClr val="1B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74152" y="1463040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0456" y="1474012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ChromaDB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0456" y="1497787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per-account index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10277856" y="14913864"/>
            <a:ext cx="219456" cy="118872"/>
          </a:xfrm>
          <a:prstGeom prst="rightArrow">
            <a:avLst/>
          </a:prstGeom>
          <a:solidFill>
            <a:srgbClr val="1B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552176" y="1463040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E7EEE9"/>
          </a:solidFill>
          <a:ln w="12700">
            <a:solidFill>
              <a:srgbClr val="1B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98480" y="1474012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MaxSim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1497787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top-k pages + score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12755880" y="14913864"/>
            <a:ext cx="219456" cy="118872"/>
          </a:xfrm>
          <a:prstGeom prst="rightArrow">
            <a:avLst/>
          </a:prstGeom>
          <a:solidFill>
            <a:srgbClr val="1B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3030200" y="1463040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11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176504" y="1474012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BM Plex Sans"/>
              </a:rPr>
              <a:t>Answer + evidence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176504" y="1497787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8FD3B0"/>
                </a:solidFill>
                <a:latin typeface="IBM Plex Mono"/>
              </a:rPr>
              <a:t>Gemini · CLIProxyAPI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15380208"/>
            <a:ext cx="15179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1B6B45"/>
                </a:solidFill>
                <a:latin typeface="IBM Plex Mono"/>
              </a:rPr>
              <a:t>the cited page travels with the answer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1565452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A8410C"/>
                </a:solidFill>
                <a:latin typeface="IBM Plex Mono"/>
              </a:rPr>
              <a:t>WRITING · A COMMAND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" y="1591056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" y="1602028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A sentence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6384" y="1625803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“create a project…”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2843784" y="16194024"/>
            <a:ext cx="219456" cy="118872"/>
          </a:xfrm>
          <a:prstGeom prst="rightArrow">
            <a:avLst/>
          </a:prstGeom>
          <a:solidFill>
            <a:srgbClr val="A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118104" y="1591056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E7EEE9"/>
          </a:solidFill>
          <a:ln w="12700">
            <a:solidFill>
              <a:srgbClr val="A8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64408" y="1602028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entity_schema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64408" y="1625803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mandatory fields</a:t>
            </a:r>
          </a:p>
        </p:txBody>
      </p:sp>
      <p:sp>
        <p:nvSpPr>
          <p:cNvPr id="84" name="Right Arrow 83"/>
          <p:cNvSpPr/>
          <p:nvPr/>
        </p:nvSpPr>
        <p:spPr>
          <a:xfrm>
            <a:off x="5321807" y="16194024"/>
            <a:ext cx="219456" cy="118872"/>
          </a:xfrm>
          <a:prstGeom prst="rightArrow">
            <a:avLst/>
          </a:prstGeom>
          <a:solidFill>
            <a:srgbClr val="A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596128" y="1591056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42432" y="1602028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What is missing?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42432" y="1625803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references checked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7799832" y="16194024"/>
            <a:ext cx="219456" cy="118872"/>
          </a:xfrm>
          <a:prstGeom prst="rightArrow">
            <a:avLst/>
          </a:prstGeom>
          <a:solidFill>
            <a:srgbClr val="A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074152" y="1591056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0456" y="1602028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Prefilled form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0456" y="1625803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reviewed by a person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10277856" y="16194024"/>
            <a:ext cx="219456" cy="118872"/>
          </a:xfrm>
          <a:prstGeom prst="rightArrow">
            <a:avLst/>
          </a:prstGeom>
          <a:solidFill>
            <a:srgbClr val="A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552176" y="1591056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11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98480" y="1602028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BM Plex Sans"/>
              </a:rPr>
              <a:t>POST /api/…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98480" y="1625803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8FD3B0"/>
                </a:solidFill>
                <a:latin typeface="IBM Plex Mono"/>
              </a:rPr>
              <a:t>permission + validator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12755880" y="16194024"/>
            <a:ext cx="219456" cy="118872"/>
          </a:xfrm>
          <a:prstGeom prst="rightArrow">
            <a:avLst/>
          </a:prstGeom>
          <a:solidFill>
            <a:srgbClr val="A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3030200" y="15910560"/>
            <a:ext cx="2148840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D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176504" y="16020288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0D1A15"/>
                </a:solidFill>
                <a:latin typeface="IBM Plex Sans"/>
              </a:rPr>
              <a:t>Record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176504" y="16258032"/>
            <a:ext cx="1874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written once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16660368"/>
            <a:ext cx="15179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A8410C"/>
                </a:solidFill>
                <a:latin typeface="IBM Plex Mono"/>
              </a:rPr>
              <a:t>ask in chat · keep what is settled · loop until nothing mandatory is missing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17135856"/>
            <a:ext cx="1517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>
                <a:solidFill>
                  <a:srgbClr val="566860"/>
                </a:solidFill>
                <a:latin typeface="IBM Plex Mono"/>
              </a:rPr>
              <a:t>Each account holds its own documents, index and settings — isolation is structural, not a filter.  ·  Retrieval runs locally; pages are never uploaded to search them.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0080" y="1764792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1B6B45"/>
                </a:solidFill>
                <a:latin typeface="IBM Plex Mono"/>
              </a:rPr>
              <a:t>THE REST OF THE PLATFORM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300984" y="17753076"/>
            <a:ext cx="6665975" cy="20320"/>
          </a:xfrm>
          <a:prstGeom prst="rect">
            <a:avLst/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0080" y="18041112"/>
            <a:ext cx="128016" cy="128016"/>
          </a:xfrm>
          <a:prstGeom prst="rect">
            <a:avLst/>
          </a:prstGeom>
          <a:solidFill>
            <a:srgbClr val="2E9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6112" y="1799539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0D1A15"/>
                </a:solidFill>
                <a:latin typeface="IBM Plex Sans"/>
              </a:rPr>
              <a:t>Document onboarding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6112" y="1823313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322A"/>
                </a:solidFill>
                <a:latin typeface="IBM Plex Sans"/>
              </a:rPr>
              <a:t>A programme or cost plan becomes a reviewable draft — you confirm before anything is committed.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49240" y="18041112"/>
            <a:ext cx="128016" cy="128016"/>
          </a:xfrm>
          <a:prstGeom prst="rect">
            <a:avLst/>
          </a:prstGeom>
          <a:solidFill>
            <a:srgbClr val="2E9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605272" y="1799539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0D1A15"/>
                </a:solidFill>
                <a:latin typeface="IBM Plex Sans"/>
              </a:rPr>
              <a:t>Earned value &amp; flow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05272" y="1823313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322A"/>
                </a:solidFill>
                <a:latin typeface="IBM Plex Sans"/>
              </a:rPr>
              <a:t>SPI, CPI and the 50/50 rule computed from the live programme, with rule-based risk flags.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" y="18909792"/>
            <a:ext cx="128016" cy="128016"/>
          </a:xfrm>
          <a:prstGeom prst="rect">
            <a:avLst/>
          </a:prstGeom>
          <a:solidFill>
            <a:srgbClr val="2E9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6112" y="1886407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0D1A15"/>
                </a:solidFill>
                <a:latin typeface="IBM Plex Sans"/>
              </a:rPr>
              <a:t>Google &amp; Microsoft 365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6112" y="1910181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322A"/>
                </a:solidFill>
                <a:latin typeface="IBM Plex Sans"/>
              </a:rPr>
              <a:t>Drive indexing, mail drafting, calendar and Meet — every booking behind an explicit confirm.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49240" y="18909792"/>
            <a:ext cx="128016" cy="128016"/>
          </a:xfrm>
          <a:prstGeom prst="rect">
            <a:avLst/>
          </a:prstGeom>
          <a:solidFill>
            <a:srgbClr val="2E9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605272" y="1886407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0D1A15"/>
                </a:solidFill>
                <a:latin typeface="IBM Plex Sans"/>
              </a:rPr>
              <a:t>Generated reports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05272" y="1910181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322A"/>
                </a:solidFill>
                <a:latin typeface="IBM Plex Sans"/>
              </a:rPr>
              <a:t>Phase-by-phase project reports rendered to PDF from the same cited evidence.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0080" y="19778472"/>
            <a:ext cx="128016" cy="128016"/>
          </a:xfrm>
          <a:prstGeom prst="rect">
            <a:avLst/>
          </a:prstGeom>
          <a:solidFill>
            <a:srgbClr val="2E9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96112" y="1973275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0D1A15"/>
                </a:solidFill>
                <a:latin typeface="IBM Plex Sans"/>
              </a:rPr>
              <a:t>Structural multi-tenancy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6112" y="199704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322A"/>
                </a:solidFill>
                <a:latin typeface="IBM Plex Sans"/>
              </a:rPr>
              <a:t>Each account keeps its own documents, index, projects and settings — nothing is shared by default.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349240" y="19778472"/>
            <a:ext cx="128016" cy="128016"/>
          </a:xfrm>
          <a:prstGeom prst="rect">
            <a:avLst/>
          </a:prstGeom>
          <a:solidFill>
            <a:srgbClr val="2E9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605272" y="1973275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0D1A15"/>
                </a:solidFill>
                <a:latin typeface="IBM Plex Sans"/>
              </a:rPr>
              <a:t>Evidence viewer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05272" y="199704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322A"/>
                </a:solidFill>
                <a:latin typeface="IBM Plex Sans"/>
              </a:rPr>
              <a:t>Open the cited page itself, at the region that matched, without leaving the answer.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424160" y="176479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>
                <a:solidFill>
                  <a:srgbClr val="1B6B45"/>
                </a:solidFill>
                <a:latin typeface="IBM Plex Mono"/>
              </a:rPr>
              <a:t>BUILT AND TESTED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2243816" y="17753076"/>
            <a:ext cx="3575304" cy="20320"/>
          </a:xfrm>
          <a:prstGeom prst="rect">
            <a:avLst/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0424160" y="17995392"/>
            <a:ext cx="5321808" cy="2340864"/>
          </a:xfrm>
          <a:prstGeom prst="roundRect">
            <a:avLst>
              <a:gd name="adj" fmla="val 3000"/>
            </a:avLst>
          </a:prstGeom>
          <a:solidFill>
            <a:srgbClr val="CFD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435132" y="18006364"/>
            <a:ext cx="1751990" cy="11484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579608" y="18132552"/>
            <a:ext cx="14996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100" b="1">
                <a:solidFill>
                  <a:srgbClr val="1B6B45"/>
                </a:solidFill>
                <a:latin typeface="IBM Plex Sans"/>
              </a:rPr>
              <a:t>591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579608" y="18562320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566860"/>
                </a:solidFill>
                <a:latin typeface="IBM Plex Sans"/>
              </a:rPr>
              <a:t>test cases passing,
from 529 test functions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2209068" y="18006364"/>
            <a:ext cx="1751990" cy="11484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2353544" y="18132552"/>
            <a:ext cx="14996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100" b="1">
                <a:solidFill>
                  <a:srgbClr val="1B6B45"/>
                </a:solidFill>
                <a:latin typeface="IBM Plex Sans"/>
              </a:rPr>
              <a:t>112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353544" y="18562320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566860"/>
                </a:solidFill>
                <a:latin typeface="IBM Plex Sans"/>
              </a:rPr>
              <a:t>API routes across
23 backend modules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983004" y="18006364"/>
            <a:ext cx="1751990" cy="11484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4127480" y="18132552"/>
            <a:ext cx="14996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100" b="1">
                <a:solidFill>
                  <a:srgbClr val="1B6B45"/>
                </a:solidFill>
                <a:latin typeface="IBM Plex Sans"/>
              </a:rPr>
              <a:t>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4127480" y="18562320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566860"/>
                </a:solidFill>
                <a:latin typeface="IBM Plex Sans"/>
              </a:rPr>
              <a:t>record types creatable
from a sentence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435132" y="19176796"/>
            <a:ext cx="1751990" cy="11484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579608" y="19302984"/>
            <a:ext cx="14996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100" b="1">
                <a:solidFill>
                  <a:srgbClr val="1B6B45"/>
                </a:solidFill>
                <a:latin typeface="IBM Plex Sans"/>
              </a:rPr>
              <a:t>26k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579608" y="19732752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566860"/>
                </a:solidFill>
                <a:latin typeface="IBM Plex Sans"/>
              </a:rPr>
              <a:t>lines of Python
and JavaScript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2209068" y="19176796"/>
            <a:ext cx="1751990" cy="11484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2353544" y="19302984"/>
            <a:ext cx="14996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100" b="1">
                <a:solidFill>
                  <a:srgbClr val="1B6B45"/>
                </a:solidFill>
                <a:latin typeface="IBM Plex Sans"/>
              </a:rP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353544" y="19732752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566860"/>
                </a:solidFill>
                <a:latin typeface="IBM Plex Sans"/>
              </a:rPr>
              <a:t>invented references
accepted, by design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3983004" y="19176796"/>
            <a:ext cx="1751990" cy="11484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4127480" y="19302984"/>
            <a:ext cx="149961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100" b="1">
                <a:solidFill>
                  <a:srgbClr val="1B6B45"/>
                </a:solidFill>
                <a:latin typeface="IBM Plex Sans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127480" y="19732752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566860"/>
                </a:solidFill>
                <a:latin typeface="IBM Plex Sans"/>
              </a:rPr>
              <a:t>consumer GPU —
runs fully on-premises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0" y="20884896"/>
            <a:ext cx="16459200" cy="1060704"/>
          </a:xfrm>
          <a:prstGeom prst="rect">
            <a:avLst/>
          </a:prstGeom>
          <a:solidFill>
            <a:srgbClr val="0D1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40080" y="21040344"/>
            <a:ext cx="749808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21076920"/>
            <a:ext cx="676656" cy="676656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572768" y="21122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IBM Plex Sans"/>
              </a:rPr>
              <a:t>BuildMarshalAI</a:t>
            </a:r>
            <a:r>
              <a:rPr sz="1250" b="0">
                <a:solidFill>
                  <a:srgbClr val="A5BAB0"/>
                </a:solidFill>
                <a:latin typeface="IBM Plex Sans"/>
              </a:rPr>
              <a:t> — evidence-cited retrieval and schema-bound record creation for construction project management.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572768" y="2139696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150" b="0">
                <a:solidFill>
                  <a:srgbClr val="A5BAB0"/>
                </a:solidFill>
                <a:latin typeface="IBM Plex Mono"/>
              </a:rPr>
              <a:t>github.com/Mobasharul-Islam/BuildMarshalAI_capstone  ·  FastAPI · ColPali v1.2 · ChromaDB · Gemini via CLIProxyAPI · vanilla JS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161520" y="211592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A5BAB0"/>
                </a:solidFill>
                <a:latin typeface="IBM Plex Mono"/>
              </a:rPr>
              <a:t>Level-4 Capstone Project
Dept. of CSE, BUET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