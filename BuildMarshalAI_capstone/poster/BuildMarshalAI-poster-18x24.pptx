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0" cy="21945600"/>
          </a:xfrm>
          <a:prstGeom prst="rect">
            <a:avLst/>
          </a:prstGeom>
          <a:solidFill>
            <a:srgbClr val="0F04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459200" cy="8412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8A18"/>
                </a:solidFill>
                <a:latin typeface="IBM Plex Mono"/>
              </a:rPr>
              <a:t>FOR THE PERSON WHO SIGNS IT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9A5330"/>
                </a:solidFill>
                <a:latin typeface="IBM Plex Mono"/>
              </a:rPr>
              <a:t>LEVEL-4 CAPSTONE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13716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0400" b="1">
                <a:solidFill>
                  <a:srgbClr val="FFF1C2"/>
                </a:solidFill>
                <a:latin typeface="Bodoni Moda"/>
              </a:rPr>
              <a:t>EVERY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15184"/>
            <a:ext cx="13716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0400" b="1">
                <a:solidFill>
                  <a:srgbClr val="FFF1C2"/>
                </a:solidFill>
                <a:latin typeface="Bodoni Moda"/>
              </a:rPr>
              <a:t>ARRIVES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3858768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0400" b="1">
                <a:solidFill>
                  <a:srgbClr val="FFF1C2"/>
                </a:solidFill>
                <a:latin typeface="Bodoni Moda"/>
              </a:rPr>
              <a:t>ITS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3858768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0400" b="1">
                <a:solidFill>
                  <a:srgbClr val="1A0703"/>
                </a:solidFill>
                <a:latin typeface="Bodoni Moda"/>
              </a:rPr>
              <a:t>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412480"/>
            <a:ext cx="16459200" cy="1737360"/>
          </a:xfrm>
          <a:prstGeom prst="rect">
            <a:avLst/>
          </a:prstGeom>
          <a:solidFill>
            <a:srgbClr val="1B0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8668511"/>
            <a:ext cx="8595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800" b="1">
                <a:solidFill>
                  <a:srgbClr val="D92B0C"/>
                </a:solidFill>
                <a:latin typeface="Inter"/>
              </a:rPr>
              <a:t>Construction documents are contractual. </a:t>
            </a:r>
            <a:r>
              <a:rPr sz="1800" b="0">
                <a:solidFill>
                  <a:srgbClr val="F0C79B"/>
                </a:solidFill>
                <a:latin typeface="Inter"/>
              </a:rPr>
              <a:t>Slabs specified at one concrete strength, piles at another, both buried in a ninety-page specification. An assistant that confuses the two does not look wrong — it looks certain. Then the floor comes out and the claim comes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8714232"/>
            <a:ext cx="658368" cy="155448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99648" y="868680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FFC93C"/>
                </a:solidFill>
                <a:latin typeface="IBM Plex Mono"/>
              </a:rPr>
              <a:t>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0" y="86868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E7A25C"/>
                </a:solidFill>
                <a:latin typeface="Inter"/>
              </a:rPr>
              <a:t>the evidence exists, and you are shown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9079992"/>
            <a:ext cx="658368" cy="155448"/>
          </a:xfrm>
          <a:prstGeom prst="roundRect">
            <a:avLst/>
          </a:prstGeom>
          <a:solidFill>
            <a:srgbClr val="FF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9648" y="90525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FFC93C"/>
                </a:solidFill>
                <a:latin typeface="IBM Plex Mono"/>
              </a:rPr>
              <a:t>DIMMED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0" y="90525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E7A25C"/>
                </a:solidFill>
                <a:latin typeface="Inter"/>
              </a:rPr>
              <a:t>less certain — and told to you as less certain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9445752"/>
            <a:ext cx="658368" cy="155448"/>
          </a:xfrm>
          <a:prstGeom prst="roundRect">
            <a:avLst/>
          </a:prstGeom>
          <a:solidFill>
            <a:srgbClr val="2408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9648" y="9418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FFC93C"/>
                </a:solidFill>
                <a:latin typeface="IBM Plex Mono"/>
              </a:rPr>
              <a:t>DARK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0" y="9418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E7A25C"/>
                </a:solidFill>
                <a:latin typeface="Inter"/>
              </a:rPr>
              <a:t>nothing in the record, so nothing is claimed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10405872"/>
            <a:ext cx="11009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D92B0C"/>
                </a:solidFill>
                <a:latin typeface="IBM Plex Mono"/>
              </a:rPr>
              <a:t>01 — WHAT YOU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10643616"/>
            <a:ext cx="11009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FFF9EA"/>
                </a:solidFill>
                <a:latin typeface="Bodoni Moda"/>
              </a:rPr>
              <a:t>Every answer shows its page.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11265408"/>
            <a:ext cx="11009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4000"/>
              </a:lnSpc>
              <a:spcAft>
                <a:spcPts val="0"/>
              </a:spcAft>
            </a:pPr>
            <a:r>
              <a:rPr sz="1600" b="0">
                <a:solidFill>
                  <a:srgbClr val="F0C79B"/>
                </a:solidFill>
                <a:latin typeface="Inter"/>
              </a:rPr>
              <a:t>Ask about the response period, the concrete schedule, the latest stamped revision. Back comes the answer with the document, the page, and how sure it is — one click from seeing it yourself. Tables, drawings and stamps are found, not just typed paragraphs.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12335255"/>
            <a:ext cx="32004" cy="274320"/>
          </a:xfrm>
          <a:prstGeom prst="rect">
            <a:avLst/>
          </a:prstGeom>
          <a:solidFill>
            <a:srgbClr val="D92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12307824"/>
            <a:ext cx="108082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350" b="0">
                <a:solidFill>
                  <a:srgbClr val="FFC93C"/>
                </a:solidFill>
                <a:latin typeface="Inter"/>
              </a:rPr>
              <a:t>When the documents do not settle it, it says so — then names what it does hold.</a:t>
            </a:r>
          </a:p>
        </p:txBody>
      </p:sp>
      <p:pic>
        <p:nvPicPr>
          <p:cNvPr id="26" name="Picture 25" descr="art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88" y="10351008"/>
            <a:ext cx="2816352" cy="254203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051560" y="13039344"/>
            <a:ext cx="14356080" cy="10972"/>
          </a:xfrm>
          <a:prstGeom prst="rect">
            <a:avLst/>
          </a:prstGeom>
          <a:solidFill>
            <a:srgbClr val="7A1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rt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3258800"/>
            <a:ext cx="2816352" cy="2542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98264" y="13313663"/>
            <a:ext cx="11009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D92B0C"/>
                </a:solidFill>
                <a:latin typeface="IBM Plex Mono"/>
              </a:rPr>
              <a:t>02 — WHAT YOU TELL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13551408"/>
            <a:ext cx="11009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FFF9EA"/>
                </a:solidFill>
                <a:latin typeface="Bodoni Moda"/>
              </a:rPr>
              <a:t>Blanks get a question, not a guess.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14173200"/>
            <a:ext cx="110093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4000"/>
              </a:lnSpc>
              <a:spcAft>
                <a:spcPts val="0"/>
              </a:spcAft>
            </a:pPr>
            <a:r>
              <a:rPr sz="1600" b="0">
                <a:solidFill>
                  <a:srgbClr val="F0C79B"/>
                </a:solidFill>
                <a:latin typeface="Inter"/>
              </a:rPr>
              <a:t>Say what you want made — a project, a task, a person, a cost, an order. It works out what is mandatory, asks for each missing piece one question at a time, and keeps what you have already told it. The form opens once, complete.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98264" y="15243048"/>
            <a:ext cx="32004" cy="274320"/>
          </a:xfrm>
          <a:prstGeom prst="rect">
            <a:avLst/>
          </a:prstGeom>
          <a:solidFill>
            <a:srgbClr val="D92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15215616"/>
            <a:ext cx="108082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350" b="0">
                <a:solidFill>
                  <a:srgbClr val="FFC93C"/>
                </a:solidFill>
                <a:latin typeface="Inter"/>
              </a:rPr>
              <a:t>A person, trade or category that does not exist is never accepted, and never quietly corrected.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15956280"/>
            <a:ext cx="16459200" cy="10972"/>
          </a:xfrm>
          <a:prstGeom prst="rect">
            <a:avLst/>
          </a:prstGeom>
          <a:solidFill>
            <a:srgbClr val="7A1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16194024"/>
            <a:ext cx="1371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D92B0C"/>
                </a:solidFill>
                <a:latin typeface="IBM Plex Mono"/>
              </a:rPr>
              <a:t>03 — WHO IS IN CHARGE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16431767"/>
            <a:ext cx="1371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>
                <a:solidFill>
                  <a:srgbClr val="FFF9EA"/>
                </a:solidFill>
                <a:latin typeface="Bodoni Moda"/>
              </a:rPr>
              <a:t>Nothing moves without your say-so.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17108424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4000"/>
              </a:lnSpc>
              <a:spcAft>
                <a:spcPts val="0"/>
              </a:spcAft>
            </a:pPr>
            <a:r>
              <a:rPr sz="1600" b="0">
                <a:solidFill>
                  <a:srgbClr val="F0C79B"/>
                </a:solidFill>
                <a:latin typeface="Inter"/>
              </a:rPr>
              <a:t>A programme or cost plan becomes a reviewable draft of projects, tasks and costs — nothing is committed until you confirm it. Schedule and cost health read off the live programme, flagging the slip early. Mail, diary and files act only on your word.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18379440"/>
            <a:ext cx="32004" cy="274320"/>
          </a:xfrm>
          <a:prstGeom prst="rect">
            <a:avLst/>
          </a:prstGeom>
          <a:solidFill>
            <a:srgbClr val="D92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2728" y="18352008"/>
            <a:ext cx="7479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350" b="0">
                <a:solidFill>
                  <a:srgbClr val="FFC93C"/>
                </a:solidFill>
                <a:latin typeface="Inter"/>
              </a:rPr>
              <a:t>Every company's records sit apart by structure, not by a setting someone can switch 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7108424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700" b="1">
                <a:solidFill>
                  <a:srgbClr val="FFC93C"/>
                </a:solidFill>
                <a:latin typeface="Bodoni Moda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17181576"/>
            <a:ext cx="5440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7A25C"/>
                </a:solidFill>
                <a:latin typeface="Inter"/>
              </a:rPr>
              <a:t>answers given without a page you can open and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1753819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700" b="1">
                <a:solidFill>
                  <a:srgbClr val="FFC93C"/>
                </a:solidFill>
                <a:latin typeface="Bodoni Moda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17611344"/>
            <a:ext cx="5440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7A25C"/>
                </a:solidFill>
                <a:latin typeface="Inter"/>
              </a:rPr>
              <a:t>blanks filled with a guess — it asks you instead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1796796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700" b="1">
                <a:solidFill>
                  <a:srgbClr val="FFC93C"/>
                </a:solidFill>
                <a:latin typeface="Bodoni Moda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18041112"/>
            <a:ext cx="5440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7A25C"/>
                </a:solidFill>
                <a:latin typeface="Inter"/>
              </a:rPr>
              <a:t>click from any answer to the page, table or stamp behind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18397728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700" b="1">
                <a:solidFill>
                  <a:srgbClr val="FFC93C"/>
                </a:solidFill>
                <a:latin typeface="Bodoni Moda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18470880"/>
            <a:ext cx="5440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7A25C"/>
                </a:solidFill>
                <a:latin typeface="Inter"/>
              </a:rPr>
              <a:t>kinds of record raised from one plain sentence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18827496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2700" b="1">
                <a:solidFill>
                  <a:srgbClr val="FFC93C"/>
                </a:solidFill>
                <a:latin typeface="Bodoni Moda"/>
              </a:rPr>
              <a:t>591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18900648"/>
            <a:ext cx="54406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7A25C"/>
                </a:solidFill>
                <a:latin typeface="Inter"/>
              </a:rPr>
              <a:t>automated checks it must pass before anyone on site relies on 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19476720"/>
            <a:ext cx="16459200" cy="1143000"/>
          </a:xfrm>
          <a:prstGeom prst="rect">
            <a:avLst/>
          </a:prstGeom>
          <a:gradFill rotWithShape="1">
            <a:gsLst>
              <a:gs pos="0">
                <a:srgbClr val="D92B0C"/>
              </a:gs>
              <a:gs pos="100000">
                <a:srgbClr val="FFE07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19787616"/>
            <a:ext cx="1435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800" b="1">
                <a:solidFill>
                  <a:srgbClr val="1A0703"/>
                </a:solidFill>
                <a:latin typeface="Bodoni Moda"/>
              </a:rPr>
              <a:t>Fluency is cheap. </a:t>
            </a:r>
            <a:r>
              <a:rPr sz="3800" b="1">
                <a:solidFill>
                  <a:srgbClr val="4A0F04"/>
                </a:solidFill>
                <a:latin typeface="Bodoni Moda"/>
              </a:rPr>
              <a:t>On a contract, only the page counts.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20619720"/>
            <a:ext cx="16459200" cy="1325879"/>
          </a:xfrm>
          <a:prstGeom prst="rect">
            <a:avLst/>
          </a:prstGeom>
          <a:solidFill>
            <a:srgbClr val="0F04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20619720"/>
            <a:ext cx="16459200" cy="10972"/>
          </a:xfrm>
          <a:prstGeom prst="rect">
            <a:avLst/>
          </a:prstGeom>
          <a:solidFill>
            <a:srgbClr val="7A1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1560" y="20894040"/>
            <a:ext cx="676656" cy="676656"/>
          </a:xfrm>
          <a:prstGeom prst="rect">
            <a:avLst/>
          </a:prstGeom>
          <a:solidFill>
            <a:srgbClr val="FFF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20930616"/>
            <a:ext cx="603504" cy="60350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984248" y="2093061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FFF1C2"/>
                </a:solidFill>
                <a:latin typeface="Inter"/>
              </a:rPr>
              <a:t>Md. Mobasharul Islam</a:t>
            </a:r>
            <a:r>
              <a:rPr sz="1150" b="0">
                <a:solidFill>
                  <a:srgbClr val="8E4A2A"/>
                </a:solidFill>
                <a:latin typeface="Inter"/>
              </a:rPr>
              <a:t>  ·  </a:t>
            </a:r>
            <a:r>
              <a:rPr sz="1150" b="1">
                <a:solidFill>
                  <a:srgbClr val="FFF1C2"/>
                </a:solidFill>
                <a:latin typeface="Inter"/>
              </a:rPr>
              <a:t>[Team member 2]</a:t>
            </a:r>
            <a:r>
              <a:rPr sz="1150" b="0">
                <a:solidFill>
                  <a:srgbClr val="8E4A2A"/>
                </a:solidFill>
                <a:latin typeface="Inter"/>
              </a:rPr>
              <a:t>  ·  </a:t>
            </a:r>
            <a:r>
              <a:rPr sz="1150" b="1">
                <a:solidFill>
                  <a:srgbClr val="FFF1C2"/>
                </a:solidFill>
                <a:latin typeface="Inter"/>
              </a:rPr>
              <a:t>[Team member 3]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84248" y="2118664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E4A2A"/>
                </a:solidFill>
                <a:latin typeface="Inter"/>
              </a:rPr>
              <a:t>Supervised by </a:t>
            </a:r>
            <a:r>
              <a:rPr sz="1150" b="1">
                <a:solidFill>
                  <a:srgbClr val="FFF1C2"/>
                </a:solidFill>
                <a:latin typeface="Inter"/>
              </a:rPr>
              <a:t>[Supervisor name]</a:t>
            </a:r>
            <a:r>
              <a:rPr sz="1150" b="0">
                <a:solidFill>
                  <a:srgbClr val="8E4A2A"/>
                </a:solidFill>
                <a:latin typeface="Inter"/>
              </a:rPr>
              <a:t>  ·  Department of Computer Science &amp; Engineering, Bangladesh University of Engineering &amp;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67160" y="2096719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8E4A2A"/>
                </a:solidFill>
                <a:latin typeface="IBM Plex Mono"/>
              </a:rPr>
              <a:t>Level-4 Capstone Project
Dhaka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